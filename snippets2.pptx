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7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12"/>
    <p:restoredTop sz="94682"/>
  </p:normalViewPr>
  <p:slideViewPr>
    <p:cSldViewPr snapToGrid="0">
      <p:cViewPr>
        <p:scale>
          <a:sx n="170" d="100"/>
          <a:sy n="170" d="100"/>
        </p:scale>
        <p:origin x="-250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03A7-7B50-CD3F-F340-50BF9FCC7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EFA6F-3174-C142-B0F6-468CB2497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D3E51-DE2A-2625-FDC3-E6289BAA4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F5374-6B90-0B9F-A511-11E1DF651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B00C8-11B2-091D-28B4-82C2400D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41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65438-39BD-0089-01A6-CC35689E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04FD-42F3-80BE-AF63-EFA844387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5DF4F-1D1C-F819-7653-E1C6358DE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3FA49-DC1C-0D3B-11BE-224E86926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30293-A935-9005-101E-77036BC4D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7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A210-CA31-4CE9-E7B1-ADEAE0DA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6A947-5722-C37B-6EEE-1BEE45F53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0C080-F5C5-4C40-BC02-C64A2AC0F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CB160-3A94-298D-81CC-3F3444B65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EEDA6-ACF1-DAC4-1015-CC048D98B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58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AE89B-AA9D-FC11-269F-7C124831A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130E-8149-EBD7-DF25-0485BC0B7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E514E-97C7-D293-D71D-715DB77DD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7FD35-79E0-4875-5B3E-D1950C99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46D32-8BA2-4F68-9425-61877EFE8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5E92D-187A-9623-2A10-69A9B3BEE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7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85F63-D992-326C-BED6-2BEBED16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6695D-E923-20FE-012A-D910382F7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02C7C-476B-24B5-BCF4-5D30D6FD9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7BCE0-45C3-57AF-4F63-884B087C1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26A981-5D12-70D1-59A0-2580D9BE21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47F243-D57A-284B-B51B-B06B6A1EC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F414E1-EC6B-6D8E-7F1F-A79BCE465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56A7C0-AD78-0DC1-4394-704AEB28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6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756C-4F69-28FE-F70C-D5E0ED8D0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6BCB08-75B4-853B-D7E4-FFC782D5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CA718-367C-CC3C-3144-5D6A70609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FBB2B-7B98-964F-38E2-759D9144D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34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808836-1399-D1B8-F2E8-478486B5A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A8841-AB3C-E45F-BB0E-34BC19D6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F930F-B99C-25F4-E28B-2C6BCDCB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78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CDC9-067C-3150-4C1E-E1BF8BB41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554B0-6D76-03AA-9E0B-AC91AB430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23F6D5-9B2D-89BE-9FFA-8A1540989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55634-053E-C656-B455-D3325C50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7BDC7-5B1C-B35F-B86D-1F8E27F7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EE4C7-9610-A8CB-6095-C5B5EE9DA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08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8D9A-50CC-96D5-35B8-052E8B5E0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0E10E8-E3FC-DA53-7571-8E20C3C74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F2DFE-3E55-33AF-6E61-A8FADBEE7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C4024-D1E9-9ECC-32A5-290E19B71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CD0F6-4FC6-F54C-E5ED-E9D9973A8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6013F-F52F-7845-D82E-EB70B4C6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4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17BF-C23F-8697-185F-9F8211E8E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99BD9-504A-88F8-8882-A9AD99E2F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68BF6-166F-5D34-417E-7DE3E979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1A047-DDDE-9E25-2A15-C6FC559C5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DC73C-6183-880B-9C1F-4F85BD9B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05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4E3BB3-A261-5C62-5C35-6F4365780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056749-4324-F7AA-55F2-7298458E2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A7342-9AF8-3588-5313-3F140C23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3B85-3B0A-0346-869B-B393D33435EE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3F85B-EA30-BB7B-DDC3-0CD59509F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8E14E-1A21-7E46-223D-DC2A4D8DC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64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90F88F-8426-03A5-3337-E638BD8A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FDEEB-D23D-EA70-1779-4DBDF6575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971D8-6AF1-18D1-DACF-D59F12FED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5E3B85-3B0A-0346-869B-B393D33435EE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F1B0B-7C40-F7CE-5041-65424BC89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0D3C0-76EA-1D5F-A4E9-A04AF7251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0B9DA-178C-1948-B8DC-DD9850F94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7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circle with colorful blocks&#10;&#10;Description automatically generated">
            <a:extLst>
              <a:ext uri="{FF2B5EF4-FFF2-40B4-BE49-F238E27FC236}">
                <a16:creationId xmlns:a16="http://schemas.microsoft.com/office/drawing/2014/main" id="{92EBF9F4-5B93-E702-3841-E3499B327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1449" y="5137355"/>
            <a:ext cx="1270000" cy="1257300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A close-up of black text&#10;&#10;Description automatically generated">
            <a:extLst>
              <a:ext uri="{FF2B5EF4-FFF2-40B4-BE49-F238E27FC236}">
                <a16:creationId xmlns:a16="http://schemas.microsoft.com/office/drawing/2014/main" id="{DB8CCA1E-3121-6F22-8F23-30C7DED2B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940" y="1201161"/>
            <a:ext cx="2170102" cy="1303711"/>
          </a:xfrm>
          <a:prstGeom prst="rect">
            <a:avLst/>
          </a:prstGeom>
        </p:spPr>
      </p:pic>
      <p:pic>
        <p:nvPicPr>
          <p:cNvPr id="12" name="Picture 11" descr="A screen shot of a chart&#10;&#10;Description automatically generated">
            <a:extLst>
              <a:ext uri="{FF2B5EF4-FFF2-40B4-BE49-F238E27FC236}">
                <a16:creationId xmlns:a16="http://schemas.microsoft.com/office/drawing/2014/main" id="{AF164587-0ECA-2FEF-C93F-A6C9DB934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075" y="1201161"/>
            <a:ext cx="1590318" cy="17248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5559C4-54B0-F49E-1B7C-7D9CD2857207}"/>
              </a:ext>
            </a:extLst>
          </p:cNvPr>
          <p:cNvSpPr txBox="1"/>
          <p:nvPr/>
        </p:nvSpPr>
        <p:spPr>
          <a:xfrm>
            <a:off x="3241481" y="831829"/>
            <a:ext cx="208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Functional Domains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779085-781A-33C2-9639-B924D1D26ED6}"/>
              </a:ext>
            </a:extLst>
          </p:cNvPr>
          <p:cNvSpPr txBox="1"/>
          <p:nvPr/>
        </p:nvSpPr>
        <p:spPr>
          <a:xfrm>
            <a:off x="5412580" y="831829"/>
            <a:ext cx="2258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Neuroimaging metrics</a:t>
            </a:r>
          </a:p>
        </p:txBody>
      </p:sp>
      <p:pic>
        <p:nvPicPr>
          <p:cNvPr id="16" name="Picture 15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6958C9E8-FFEC-D8A8-4B15-CE63F456EA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74" y="3932017"/>
            <a:ext cx="7772400" cy="2836479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92FBB2F6-2C40-D2AF-9A11-8AB2EDE792DE}"/>
              </a:ext>
            </a:extLst>
          </p:cNvPr>
          <p:cNvSpPr/>
          <p:nvPr/>
        </p:nvSpPr>
        <p:spPr>
          <a:xfrm>
            <a:off x="5069753" y="1800661"/>
            <a:ext cx="333371" cy="262912"/>
          </a:xfrm>
          <a:prstGeom prst="rightArrow">
            <a:avLst/>
          </a:prstGeom>
          <a:solidFill>
            <a:srgbClr val="4270C4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DD51B7-D0FE-4364-2DE5-3B9784126E79}"/>
              </a:ext>
            </a:extLst>
          </p:cNvPr>
          <p:cNvSpPr txBox="1"/>
          <p:nvPr/>
        </p:nvSpPr>
        <p:spPr>
          <a:xfrm>
            <a:off x="5521743" y="2504872"/>
            <a:ext cx="20404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Extracted using atlas-based regions of interest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AD1FB4F2-CD2D-C7A0-152D-D36A07557A9F}"/>
              </a:ext>
            </a:extLst>
          </p:cNvPr>
          <p:cNvSpPr/>
          <p:nvPr/>
        </p:nvSpPr>
        <p:spPr>
          <a:xfrm>
            <a:off x="7671402" y="1800660"/>
            <a:ext cx="333371" cy="262912"/>
          </a:xfrm>
          <a:prstGeom prst="rightArrow">
            <a:avLst/>
          </a:prstGeom>
          <a:solidFill>
            <a:srgbClr val="4270C4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ink and blue brain&#10;&#10;Description automatically generated">
            <a:extLst>
              <a:ext uri="{FF2B5EF4-FFF2-40B4-BE49-F238E27FC236}">
                <a16:creationId xmlns:a16="http://schemas.microsoft.com/office/drawing/2014/main" id="{D9F63B69-6C66-8D2D-E547-FD711F12D1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6504" y="1714520"/>
            <a:ext cx="807441" cy="8637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E2292AE-53E9-2E41-50B1-E54CB6B6775F}"/>
              </a:ext>
            </a:extLst>
          </p:cNvPr>
          <p:cNvSpPr txBox="1"/>
          <p:nvPr/>
        </p:nvSpPr>
        <p:spPr>
          <a:xfrm>
            <a:off x="7838087" y="1201161"/>
            <a:ext cx="1481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&gt; 150 features of interest</a:t>
            </a:r>
          </a:p>
        </p:txBody>
      </p:sp>
    </p:spTree>
    <p:extLst>
      <p:ext uri="{BB962C8B-B14F-4D97-AF65-F5344CB8AC3E}">
        <p14:creationId xmlns:p14="http://schemas.microsoft.com/office/powerpoint/2010/main" val="98828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160C46BF-31C3-A998-53ED-F75A89DCF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681" y="975710"/>
            <a:ext cx="3898900" cy="3098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523C51-5C0A-E89D-7C25-CD171E502BF9}"/>
              </a:ext>
            </a:extLst>
          </p:cNvPr>
          <p:cNvSpPr txBox="1"/>
          <p:nvPr/>
        </p:nvSpPr>
        <p:spPr>
          <a:xfrm>
            <a:off x="434333" y="1678724"/>
            <a:ext cx="15836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Y-axis: Neuroimaging feature with native units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20F486-EF44-99DE-3141-787B3D82263B}"/>
              </a:ext>
            </a:extLst>
          </p:cNvPr>
          <p:cNvSpPr txBox="1"/>
          <p:nvPr/>
        </p:nvSpPr>
        <p:spPr>
          <a:xfrm>
            <a:off x="1332971" y="518220"/>
            <a:ext cx="1334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Title: Region(s) of interest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A4F5F-059A-9360-EE8B-02D2BC887068}"/>
              </a:ext>
            </a:extLst>
          </p:cNvPr>
          <p:cNvSpPr txBox="1"/>
          <p:nvPr/>
        </p:nvSpPr>
        <p:spPr>
          <a:xfrm>
            <a:off x="3147957" y="675248"/>
            <a:ext cx="1213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Deviation scores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BB41C9-0745-E705-5C1B-644403CC8F12}"/>
              </a:ext>
            </a:extLst>
          </p:cNvPr>
          <p:cNvSpPr txBox="1"/>
          <p:nvPr/>
        </p:nvSpPr>
        <p:spPr>
          <a:xfrm>
            <a:off x="5295509" y="1808937"/>
            <a:ext cx="14995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Symbols:</a:t>
            </a:r>
          </a:p>
          <a:p>
            <a:r>
              <a:rPr lang="en-US" sz="1400" dirty="0">
                <a:solidFill>
                  <a:srgbClr val="7030A0"/>
                </a:solidFill>
              </a:rPr>
              <a:t>Purple – females</a:t>
            </a:r>
            <a:endParaRPr lang="en-US" sz="1400" dirty="0">
              <a:solidFill>
                <a:srgbClr val="4270C4"/>
              </a:solidFill>
            </a:endParaRPr>
          </a:p>
          <a:p>
            <a:r>
              <a:rPr lang="en-US" sz="1400" dirty="0">
                <a:solidFill>
                  <a:srgbClr val="4270C4"/>
                </a:solidFill>
              </a:rPr>
              <a:t>Blue – males</a:t>
            </a:r>
            <a:endParaRPr lang="en-US" sz="1400" dirty="0">
              <a:solidFill>
                <a:srgbClr val="7030A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Red - participant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352D89-0BE1-C4C7-E83D-9D30BBE190EA}"/>
              </a:ext>
            </a:extLst>
          </p:cNvPr>
          <p:cNvSpPr txBox="1"/>
          <p:nvPr/>
        </p:nvSpPr>
        <p:spPr>
          <a:xfrm>
            <a:off x="4332725" y="410498"/>
            <a:ext cx="13348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Participant ID</a:t>
            </a:r>
          </a:p>
          <a:p>
            <a:r>
              <a:rPr lang="en-US" sz="1400" dirty="0">
                <a:solidFill>
                  <a:srgbClr val="4270C4"/>
                </a:solidFill>
              </a:rPr>
              <a:t>Circle – female</a:t>
            </a:r>
          </a:p>
          <a:p>
            <a:r>
              <a:rPr lang="en-US" sz="1400" dirty="0">
                <a:solidFill>
                  <a:srgbClr val="4270C4"/>
                </a:solidFill>
              </a:rPr>
              <a:t>Square - male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0EA1FA1-325C-1858-3649-9A3AF2A31408}"/>
              </a:ext>
            </a:extLst>
          </p:cNvPr>
          <p:cNvCxnSpPr>
            <a:cxnSpLocks/>
          </p:cNvCxnSpPr>
          <p:nvPr/>
        </p:nvCxnSpPr>
        <p:spPr>
          <a:xfrm>
            <a:off x="2280567" y="818682"/>
            <a:ext cx="136812" cy="225863"/>
          </a:xfrm>
          <a:prstGeom prst="straightConnector1">
            <a:avLst/>
          </a:prstGeom>
          <a:ln>
            <a:solidFill>
              <a:srgbClr val="4270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22C4DDC3-0F6C-E712-A583-259704CB50BA}"/>
              </a:ext>
            </a:extLst>
          </p:cNvPr>
          <p:cNvSpPr/>
          <p:nvPr/>
        </p:nvSpPr>
        <p:spPr>
          <a:xfrm>
            <a:off x="1692164" y="1351785"/>
            <a:ext cx="110578" cy="2221732"/>
          </a:xfrm>
          <a:prstGeom prst="leftBracket">
            <a:avLst/>
          </a:prstGeom>
          <a:ln>
            <a:solidFill>
              <a:srgbClr val="427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5D0BB8-7B65-9BAF-B0C6-D2E7EDD5EDF1}"/>
              </a:ext>
            </a:extLst>
          </p:cNvPr>
          <p:cNvCxnSpPr>
            <a:cxnSpLocks/>
          </p:cNvCxnSpPr>
          <p:nvPr/>
        </p:nvCxnSpPr>
        <p:spPr>
          <a:xfrm flipH="1">
            <a:off x="3060573" y="1198468"/>
            <a:ext cx="315310" cy="300462"/>
          </a:xfrm>
          <a:prstGeom prst="straightConnector1">
            <a:avLst/>
          </a:prstGeom>
          <a:ln>
            <a:solidFill>
              <a:srgbClr val="4270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BC902F3-942D-4600-C4ED-2292079C674E}"/>
              </a:ext>
            </a:extLst>
          </p:cNvPr>
          <p:cNvSpPr txBox="1"/>
          <p:nvPr/>
        </p:nvSpPr>
        <p:spPr>
          <a:xfrm>
            <a:off x="5295509" y="2792772"/>
            <a:ext cx="12137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Regression lines: LOESS curves</a:t>
            </a:r>
          </a:p>
        </p:txBody>
      </p:sp>
    </p:spTree>
    <p:extLst>
      <p:ext uri="{BB962C8B-B14F-4D97-AF65-F5344CB8AC3E}">
        <p14:creationId xmlns:p14="http://schemas.microsoft.com/office/powerpoint/2010/main" val="3904631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ge and age&#10;&#10;Description automatically generated">
            <a:extLst>
              <a:ext uri="{FF2B5EF4-FFF2-40B4-BE49-F238E27FC236}">
                <a16:creationId xmlns:a16="http://schemas.microsoft.com/office/drawing/2014/main" id="{D7CC29C1-160F-A81C-2937-97F0E62D4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345" y="1322552"/>
            <a:ext cx="3721100" cy="3124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CC741C-3482-A2EC-79C0-9DDE5D0D2C60}"/>
              </a:ext>
            </a:extLst>
          </p:cNvPr>
          <p:cNvSpPr txBox="1"/>
          <p:nvPr/>
        </p:nvSpPr>
        <p:spPr>
          <a:xfrm>
            <a:off x="3363980" y="972784"/>
            <a:ext cx="1213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Deviation scores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698D4F4-109A-16AB-0CC5-BC7E7FABE718}"/>
              </a:ext>
            </a:extLst>
          </p:cNvPr>
          <p:cNvCxnSpPr>
            <a:cxnSpLocks/>
          </p:cNvCxnSpPr>
          <p:nvPr/>
        </p:nvCxnSpPr>
        <p:spPr>
          <a:xfrm flipH="1">
            <a:off x="3276596" y="1496004"/>
            <a:ext cx="315310" cy="300462"/>
          </a:xfrm>
          <a:prstGeom prst="straightConnector1">
            <a:avLst/>
          </a:prstGeom>
          <a:ln>
            <a:solidFill>
              <a:srgbClr val="4270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9337B44-D586-5BDB-FE72-40062A8D8C87}"/>
              </a:ext>
            </a:extLst>
          </p:cNvPr>
          <p:cNvSpPr txBox="1"/>
          <p:nvPr/>
        </p:nvSpPr>
        <p:spPr>
          <a:xfrm>
            <a:off x="1589548" y="858087"/>
            <a:ext cx="1334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Title: Region(s) of interest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2AFF3C-D051-558E-A03E-8C6C0EEE27FE}"/>
              </a:ext>
            </a:extLst>
          </p:cNvPr>
          <p:cNvCxnSpPr>
            <a:cxnSpLocks/>
          </p:cNvCxnSpPr>
          <p:nvPr/>
        </p:nvCxnSpPr>
        <p:spPr>
          <a:xfrm>
            <a:off x="2537144" y="1158549"/>
            <a:ext cx="136812" cy="225863"/>
          </a:xfrm>
          <a:prstGeom prst="straightConnector1">
            <a:avLst/>
          </a:prstGeom>
          <a:ln>
            <a:solidFill>
              <a:srgbClr val="4270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2ED7AF-B09E-3290-BCFB-C9484C226405}"/>
              </a:ext>
            </a:extLst>
          </p:cNvPr>
          <p:cNvSpPr txBox="1"/>
          <p:nvPr/>
        </p:nvSpPr>
        <p:spPr>
          <a:xfrm>
            <a:off x="640604" y="2038473"/>
            <a:ext cx="15836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Y-axis: Neuroimaging feature with native units</a:t>
            </a:r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F94FB6F4-C731-EC3C-FD7F-491618F8FDB1}"/>
              </a:ext>
            </a:extLst>
          </p:cNvPr>
          <p:cNvSpPr/>
          <p:nvPr/>
        </p:nvSpPr>
        <p:spPr>
          <a:xfrm>
            <a:off x="1898435" y="1711534"/>
            <a:ext cx="110578" cy="2221732"/>
          </a:xfrm>
          <a:prstGeom prst="leftBracket">
            <a:avLst/>
          </a:prstGeom>
          <a:ln>
            <a:solidFill>
              <a:srgbClr val="427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AD8A871-DD44-784A-5394-007A9A3C08DE}"/>
              </a:ext>
            </a:extLst>
          </p:cNvPr>
          <p:cNvSpPr/>
          <p:nvPr/>
        </p:nvSpPr>
        <p:spPr>
          <a:xfrm>
            <a:off x="3993931" y="2564524"/>
            <a:ext cx="294290" cy="1368742"/>
          </a:xfrm>
          <a:prstGeom prst="roundRect">
            <a:avLst/>
          </a:prstGeom>
          <a:noFill/>
          <a:ln>
            <a:solidFill>
              <a:srgbClr val="4270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170AC5-98CB-EA6A-0271-4FDDEB479412}"/>
              </a:ext>
            </a:extLst>
          </p:cNvPr>
          <p:cNvSpPr txBox="1"/>
          <p:nvPr/>
        </p:nvSpPr>
        <p:spPr>
          <a:xfrm>
            <a:off x="4577706" y="3091198"/>
            <a:ext cx="19849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Single session data shows deviation from expected values</a:t>
            </a:r>
          </a:p>
        </p:txBody>
      </p:sp>
    </p:spTree>
    <p:extLst>
      <p:ext uri="{BB962C8B-B14F-4D97-AF65-F5344CB8AC3E}">
        <p14:creationId xmlns:p14="http://schemas.microsoft.com/office/powerpoint/2010/main" val="170095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A screenshot of a computer&#10;&#10;Description automatically generated">
            <a:extLst>
              <a:ext uri="{FF2B5EF4-FFF2-40B4-BE49-F238E27FC236}">
                <a16:creationId xmlns:a16="http://schemas.microsoft.com/office/drawing/2014/main" id="{5CBFE75C-694C-9541-2242-8D714AD81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364" y="975905"/>
            <a:ext cx="7772400" cy="186239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8" name="Picture 37" descr="A screenshot of a computer&#10;&#10;Description automatically generated">
            <a:extLst>
              <a:ext uri="{FF2B5EF4-FFF2-40B4-BE49-F238E27FC236}">
                <a16:creationId xmlns:a16="http://schemas.microsoft.com/office/drawing/2014/main" id="{A26A62E6-2FEB-026F-1DBF-2D038BB6F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567" y="4906928"/>
            <a:ext cx="2880000" cy="68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F820B0-F978-5D14-064D-51F0D2925E43}"/>
              </a:ext>
            </a:extLst>
          </p:cNvPr>
          <p:cNvSpPr txBox="1"/>
          <p:nvPr/>
        </p:nvSpPr>
        <p:spPr>
          <a:xfrm>
            <a:off x="1515386" y="679471"/>
            <a:ext cx="3993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Single session: Save in the Subjects folder</a:t>
            </a:r>
          </a:p>
          <a:p>
            <a:endParaRPr lang="en-US" sz="1400" dirty="0">
              <a:solidFill>
                <a:srgbClr val="4270C4"/>
              </a:solidFill>
            </a:endParaRP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896E6040-73D6-4E30-6FA2-B532775677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72"/>
          <a:stretch/>
        </p:blipFill>
        <p:spPr>
          <a:xfrm>
            <a:off x="1600364" y="3230384"/>
            <a:ext cx="7772400" cy="150822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4DF053-4700-A9F4-6A5D-614D74C05C0A}"/>
              </a:ext>
            </a:extLst>
          </p:cNvPr>
          <p:cNvSpPr txBox="1"/>
          <p:nvPr/>
        </p:nvSpPr>
        <p:spPr>
          <a:xfrm>
            <a:off x="6465198" y="679471"/>
            <a:ext cx="3146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Name this file: ID.csv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3064B-2BA0-D71B-F5E8-F53A2E82E461}"/>
              </a:ext>
            </a:extLst>
          </p:cNvPr>
          <p:cNvSpPr txBox="1"/>
          <p:nvPr/>
        </p:nvSpPr>
        <p:spPr>
          <a:xfrm>
            <a:off x="1515386" y="2922607"/>
            <a:ext cx="4435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Single session: Save in the Subjects/ID folder</a:t>
            </a:r>
          </a:p>
          <a:p>
            <a:endParaRPr lang="en-US" sz="1400" dirty="0">
              <a:solidFill>
                <a:srgbClr val="4270C4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B9DD4D-A3DD-E4B8-E446-D97E78F6A742}"/>
              </a:ext>
            </a:extLst>
          </p:cNvPr>
          <p:cNvSpPr txBox="1"/>
          <p:nvPr/>
        </p:nvSpPr>
        <p:spPr>
          <a:xfrm>
            <a:off x="6465198" y="2922607"/>
            <a:ext cx="3146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Name this file: ID_session.csv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1E5172-D646-E6B8-009D-377C040C3B02}"/>
              </a:ext>
            </a:extLst>
          </p:cNvPr>
          <p:cNvCxnSpPr>
            <a:cxnSpLocks/>
          </p:cNvCxnSpPr>
          <p:nvPr/>
        </p:nvCxnSpPr>
        <p:spPr>
          <a:xfrm flipH="1">
            <a:off x="6333344" y="3086260"/>
            <a:ext cx="161834" cy="211578"/>
          </a:xfrm>
          <a:prstGeom prst="straightConnector1">
            <a:avLst/>
          </a:prstGeom>
          <a:ln>
            <a:solidFill>
              <a:srgbClr val="4270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22B445-2264-E014-9414-A6DF5DF55C50}"/>
              </a:ext>
            </a:extLst>
          </p:cNvPr>
          <p:cNvCxnSpPr>
            <a:cxnSpLocks/>
          </p:cNvCxnSpPr>
          <p:nvPr/>
        </p:nvCxnSpPr>
        <p:spPr>
          <a:xfrm flipH="1">
            <a:off x="6333344" y="841088"/>
            <a:ext cx="161834" cy="211578"/>
          </a:xfrm>
          <a:prstGeom prst="straightConnector1">
            <a:avLst/>
          </a:prstGeom>
          <a:ln>
            <a:solidFill>
              <a:srgbClr val="4270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BB40766-1A2F-F80A-C932-00C3CE7B0ED9}"/>
              </a:ext>
            </a:extLst>
          </p:cNvPr>
          <p:cNvSpPr txBox="1"/>
          <p:nvPr/>
        </p:nvSpPr>
        <p:spPr>
          <a:xfrm>
            <a:off x="1515386" y="4854463"/>
            <a:ext cx="26370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For a participant with a single session, the folder structure should look like this:</a:t>
            </a:r>
          </a:p>
          <a:p>
            <a:endParaRPr lang="en-US" sz="1400" dirty="0">
              <a:solidFill>
                <a:srgbClr val="4270C4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CB49E5-5D00-E5AD-8786-F40F5155116A}"/>
              </a:ext>
            </a:extLst>
          </p:cNvPr>
          <p:cNvSpPr txBox="1"/>
          <p:nvPr/>
        </p:nvSpPr>
        <p:spPr>
          <a:xfrm>
            <a:off x="7945161" y="5069897"/>
            <a:ext cx="1062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4270C4"/>
                </a:solidFill>
              </a:rPr>
              <a:t>One .csv file for a single session</a:t>
            </a:r>
          </a:p>
          <a:p>
            <a:endParaRPr lang="en-US" sz="1000" dirty="0">
              <a:solidFill>
                <a:srgbClr val="4270C4"/>
              </a:solidFill>
            </a:endParaRPr>
          </a:p>
        </p:txBody>
      </p:sp>
      <p:sp>
        <p:nvSpPr>
          <p:cNvPr id="22" name="Right Bracket 21">
            <a:extLst>
              <a:ext uri="{FF2B5EF4-FFF2-40B4-BE49-F238E27FC236}">
                <a16:creationId xmlns:a16="http://schemas.microsoft.com/office/drawing/2014/main" id="{81444D39-3828-77D9-CD79-3E57B606F6E5}"/>
              </a:ext>
            </a:extLst>
          </p:cNvPr>
          <p:cNvSpPr/>
          <p:nvPr/>
        </p:nvSpPr>
        <p:spPr>
          <a:xfrm>
            <a:off x="7922302" y="4991259"/>
            <a:ext cx="45719" cy="553998"/>
          </a:xfrm>
          <a:prstGeom prst="rightBracket">
            <a:avLst/>
          </a:prstGeom>
          <a:ln>
            <a:solidFill>
              <a:srgbClr val="427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9D323-9EA0-3DB9-06D0-DC3BB40E88BF}"/>
              </a:ext>
            </a:extLst>
          </p:cNvPr>
          <p:cNvSpPr txBox="1"/>
          <p:nvPr/>
        </p:nvSpPr>
        <p:spPr>
          <a:xfrm>
            <a:off x="4289153" y="4882730"/>
            <a:ext cx="1062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4270C4"/>
                </a:solidFill>
              </a:rPr>
              <a:t>FIDELITI working directory</a:t>
            </a:r>
          </a:p>
          <a:p>
            <a:endParaRPr lang="en-US" sz="1000" dirty="0">
              <a:solidFill>
                <a:srgbClr val="4270C4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F9A56C-BC56-79FA-6DFF-22CD0EF0C09F}"/>
              </a:ext>
            </a:extLst>
          </p:cNvPr>
          <p:cNvCxnSpPr/>
          <p:nvPr/>
        </p:nvCxnSpPr>
        <p:spPr>
          <a:xfrm flipV="1">
            <a:off x="4864308" y="5008908"/>
            <a:ext cx="149902" cy="119360"/>
          </a:xfrm>
          <a:prstGeom prst="straightConnector1">
            <a:avLst/>
          </a:prstGeom>
          <a:ln>
            <a:solidFill>
              <a:srgbClr val="4270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A7CAA46-9DB9-DE27-16D4-9BA40F18001D}"/>
              </a:ext>
            </a:extLst>
          </p:cNvPr>
          <p:cNvSpPr txBox="1"/>
          <p:nvPr/>
        </p:nvSpPr>
        <p:spPr>
          <a:xfrm>
            <a:off x="5014584" y="5087381"/>
            <a:ext cx="1086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4270C4"/>
                </a:solidFill>
              </a:rPr>
              <a:t>Participant directory with their ID</a:t>
            </a:r>
          </a:p>
          <a:p>
            <a:endParaRPr lang="en-US" sz="1000" dirty="0">
              <a:solidFill>
                <a:srgbClr val="4270C4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D201CDA-3C40-BCB5-BE9F-848161047D25}"/>
              </a:ext>
            </a:extLst>
          </p:cNvPr>
          <p:cNvCxnSpPr>
            <a:cxnSpLocks/>
          </p:cNvCxnSpPr>
          <p:nvPr/>
        </p:nvCxnSpPr>
        <p:spPr>
          <a:xfrm flipV="1">
            <a:off x="5764984" y="5046383"/>
            <a:ext cx="186111" cy="187698"/>
          </a:xfrm>
          <a:prstGeom prst="straightConnector1">
            <a:avLst/>
          </a:prstGeom>
          <a:ln>
            <a:solidFill>
              <a:srgbClr val="4270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547E4F6-229E-77B2-D2E1-EF7C1E2BB099}"/>
              </a:ext>
            </a:extLst>
          </p:cNvPr>
          <p:cNvSpPr txBox="1"/>
          <p:nvPr/>
        </p:nvSpPr>
        <p:spPr>
          <a:xfrm>
            <a:off x="5742499" y="5396661"/>
            <a:ext cx="1242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4270C4"/>
                </a:solidFill>
              </a:rPr>
              <a:t>Datafile containing a single session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0938D9F-FE55-0D52-6DB7-BF74C5EBEF38}"/>
              </a:ext>
            </a:extLst>
          </p:cNvPr>
          <p:cNvCxnSpPr>
            <a:cxnSpLocks/>
          </p:cNvCxnSpPr>
          <p:nvPr/>
        </p:nvCxnSpPr>
        <p:spPr>
          <a:xfrm flipV="1">
            <a:off x="6214272" y="5213757"/>
            <a:ext cx="70703" cy="227567"/>
          </a:xfrm>
          <a:prstGeom prst="straightConnector1">
            <a:avLst/>
          </a:prstGeom>
          <a:ln>
            <a:solidFill>
              <a:srgbClr val="4270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292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69532-0628-536E-9B8F-D4F4D4EB0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1D0947D-E014-CCE8-75D0-F7331C4FB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364" y="987248"/>
            <a:ext cx="7772400" cy="18643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4283D0-0B15-48F1-6850-1D6A22A96FD0}"/>
              </a:ext>
            </a:extLst>
          </p:cNvPr>
          <p:cNvSpPr txBox="1"/>
          <p:nvPr/>
        </p:nvSpPr>
        <p:spPr>
          <a:xfrm>
            <a:off x="1515386" y="679471"/>
            <a:ext cx="3993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Multiple sessions: Save in the Subjects folder</a:t>
            </a:r>
          </a:p>
          <a:p>
            <a:endParaRPr lang="en-US" sz="1400" dirty="0">
              <a:solidFill>
                <a:srgbClr val="4270C4"/>
              </a:solidFill>
            </a:endParaRP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DB5AAD0C-C1EE-86D3-3D08-DA2EEE7C0E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2"/>
          <a:stretch/>
        </p:blipFill>
        <p:spPr>
          <a:xfrm>
            <a:off x="1600364" y="3230384"/>
            <a:ext cx="7772400" cy="150822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6BA6BE-BD84-E68E-1A7F-6995559838C6}"/>
              </a:ext>
            </a:extLst>
          </p:cNvPr>
          <p:cNvSpPr txBox="1"/>
          <p:nvPr/>
        </p:nvSpPr>
        <p:spPr>
          <a:xfrm>
            <a:off x="6465198" y="679471"/>
            <a:ext cx="3146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Name this file: ID.csv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4D0894-6791-CB87-A0AE-F9BA6CC52FCE}"/>
              </a:ext>
            </a:extLst>
          </p:cNvPr>
          <p:cNvSpPr txBox="1"/>
          <p:nvPr/>
        </p:nvSpPr>
        <p:spPr>
          <a:xfrm>
            <a:off x="1515386" y="2922607"/>
            <a:ext cx="4435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Single session: Save in the Subjects/ID folder</a:t>
            </a:r>
          </a:p>
          <a:p>
            <a:endParaRPr lang="en-US" sz="1400" dirty="0">
              <a:solidFill>
                <a:srgbClr val="4270C4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63FB0-526D-DBE9-3091-C609718CF2C5}"/>
              </a:ext>
            </a:extLst>
          </p:cNvPr>
          <p:cNvSpPr txBox="1"/>
          <p:nvPr/>
        </p:nvSpPr>
        <p:spPr>
          <a:xfrm>
            <a:off x="6465198" y="2922607"/>
            <a:ext cx="3146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Name this file: ID_session.csv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900E94-B7A5-5C6A-C758-779CB029361C}"/>
              </a:ext>
            </a:extLst>
          </p:cNvPr>
          <p:cNvCxnSpPr>
            <a:cxnSpLocks/>
          </p:cNvCxnSpPr>
          <p:nvPr/>
        </p:nvCxnSpPr>
        <p:spPr>
          <a:xfrm flipH="1">
            <a:off x="6333344" y="3086260"/>
            <a:ext cx="161834" cy="211578"/>
          </a:xfrm>
          <a:prstGeom prst="straightConnector1">
            <a:avLst/>
          </a:prstGeom>
          <a:ln>
            <a:solidFill>
              <a:srgbClr val="4270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22E953-935D-B4A0-E996-38472D65D5A4}"/>
              </a:ext>
            </a:extLst>
          </p:cNvPr>
          <p:cNvCxnSpPr>
            <a:cxnSpLocks/>
          </p:cNvCxnSpPr>
          <p:nvPr/>
        </p:nvCxnSpPr>
        <p:spPr>
          <a:xfrm flipH="1">
            <a:off x="6333344" y="841088"/>
            <a:ext cx="161834" cy="211578"/>
          </a:xfrm>
          <a:prstGeom prst="straightConnector1">
            <a:avLst/>
          </a:prstGeom>
          <a:ln>
            <a:solidFill>
              <a:srgbClr val="4270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screenshot of a computer&#10;&#10;Description automatically generated">
            <a:extLst>
              <a:ext uri="{FF2B5EF4-FFF2-40B4-BE49-F238E27FC236}">
                <a16:creationId xmlns:a16="http://schemas.microsoft.com/office/drawing/2014/main" id="{279E3FBF-3D78-F950-6D2F-F7AEE7DEA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954" y="4882730"/>
            <a:ext cx="2878613" cy="77105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B8F3D6D-7A14-095C-8116-4DC9DB87AFDA}"/>
              </a:ext>
            </a:extLst>
          </p:cNvPr>
          <p:cNvSpPr txBox="1"/>
          <p:nvPr/>
        </p:nvSpPr>
        <p:spPr>
          <a:xfrm>
            <a:off x="1515386" y="4854463"/>
            <a:ext cx="26370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270C4"/>
                </a:solidFill>
              </a:rPr>
              <a:t>For a participant with multiple sessions, the folder structure should look like this:</a:t>
            </a:r>
          </a:p>
          <a:p>
            <a:endParaRPr lang="en-US" sz="1400" dirty="0">
              <a:solidFill>
                <a:srgbClr val="4270C4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5B77AC-1261-F4DF-2D22-DD3165923CFC}"/>
              </a:ext>
            </a:extLst>
          </p:cNvPr>
          <p:cNvSpPr txBox="1"/>
          <p:nvPr/>
        </p:nvSpPr>
        <p:spPr>
          <a:xfrm>
            <a:off x="7945161" y="5069897"/>
            <a:ext cx="1062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4270C4"/>
                </a:solidFill>
              </a:rPr>
              <a:t>One .csv file for each session</a:t>
            </a:r>
          </a:p>
          <a:p>
            <a:endParaRPr lang="en-US" sz="1000" dirty="0">
              <a:solidFill>
                <a:srgbClr val="4270C4"/>
              </a:solidFill>
            </a:endParaRPr>
          </a:p>
        </p:txBody>
      </p:sp>
      <p:sp>
        <p:nvSpPr>
          <p:cNvPr id="22" name="Right Bracket 21">
            <a:extLst>
              <a:ext uri="{FF2B5EF4-FFF2-40B4-BE49-F238E27FC236}">
                <a16:creationId xmlns:a16="http://schemas.microsoft.com/office/drawing/2014/main" id="{C909B9F4-AED1-4D38-33EC-F0E6DF7F839D}"/>
              </a:ext>
            </a:extLst>
          </p:cNvPr>
          <p:cNvSpPr/>
          <p:nvPr/>
        </p:nvSpPr>
        <p:spPr>
          <a:xfrm>
            <a:off x="7922302" y="4991259"/>
            <a:ext cx="45719" cy="553998"/>
          </a:xfrm>
          <a:prstGeom prst="rightBracket">
            <a:avLst/>
          </a:prstGeom>
          <a:ln>
            <a:solidFill>
              <a:srgbClr val="427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2728F9-E4EC-98E9-5D83-5A6308D1958A}"/>
              </a:ext>
            </a:extLst>
          </p:cNvPr>
          <p:cNvSpPr txBox="1"/>
          <p:nvPr/>
        </p:nvSpPr>
        <p:spPr>
          <a:xfrm>
            <a:off x="4289153" y="4882730"/>
            <a:ext cx="1062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4270C4"/>
                </a:solidFill>
              </a:rPr>
              <a:t>FIDELITI working directory</a:t>
            </a:r>
          </a:p>
          <a:p>
            <a:endParaRPr lang="en-US" sz="1000" dirty="0">
              <a:solidFill>
                <a:srgbClr val="4270C4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84041C-1E0F-6A60-D82A-18ABDFF2C5F1}"/>
              </a:ext>
            </a:extLst>
          </p:cNvPr>
          <p:cNvCxnSpPr/>
          <p:nvPr/>
        </p:nvCxnSpPr>
        <p:spPr>
          <a:xfrm flipV="1">
            <a:off x="4864308" y="5008908"/>
            <a:ext cx="149902" cy="119360"/>
          </a:xfrm>
          <a:prstGeom prst="straightConnector1">
            <a:avLst/>
          </a:prstGeom>
          <a:ln>
            <a:solidFill>
              <a:srgbClr val="4270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5B095F4-CA8A-3D88-B2DE-9B20BB1E846B}"/>
              </a:ext>
            </a:extLst>
          </p:cNvPr>
          <p:cNvSpPr txBox="1"/>
          <p:nvPr/>
        </p:nvSpPr>
        <p:spPr>
          <a:xfrm>
            <a:off x="5037069" y="5117361"/>
            <a:ext cx="1086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4270C4"/>
                </a:solidFill>
              </a:rPr>
              <a:t>Participant directory with their ID</a:t>
            </a:r>
          </a:p>
          <a:p>
            <a:endParaRPr lang="en-US" sz="1000" dirty="0">
              <a:solidFill>
                <a:srgbClr val="4270C4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D2AD5CD-DD55-413B-3F28-A046756C546F}"/>
              </a:ext>
            </a:extLst>
          </p:cNvPr>
          <p:cNvCxnSpPr>
            <a:cxnSpLocks/>
          </p:cNvCxnSpPr>
          <p:nvPr/>
        </p:nvCxnSpPr>
        <p:spPr>
          <a:xfrm flipV="1">
            <a:off x="5764984" y="5046383"/>
            <a:ext cx="186111" cy="187698"/>
          </a:xfrm>
          <a:prstGeom prst="straightConnector1">
            <a:avLst/>
          </a:prstGeom>
          <a:ln>
            <a:solidFill>
              <a:srgbClr val="4270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E6B2D73-5126-0F48-099D-E3230AF48C45}"/>
              </a:ext>
            </a:extLst>
          </p:cNvPr>
          <p:cNvSpPr txBox="1"/>
          <p:nvPr/>
        </p:nvSpPr>
        <p:spPr>
          <a:xfrm>
            <a:off x="5742499" y="5449126"/>
            <a:ext cx="1242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4270C4"/>
                </a:solidFill>
              </a:rPr>
              <a:t>Datafile containing multiple sessions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BE3EB95-0164-9F0F-9FE9-D79174A1E57A}"/>
              </a:ext>
            </a:extLst>
          </p:cNvPr>
          <p:cNvCxnSpPr>
            <a:cxnSpLocks/>
          </p:cNvCxnSpPr>
          <p:nvPr/>
        </p:nvCxnSpPr>
        <p:spPr>
          <a:xfrm flipV="1">
            <a:off x="6240907" y="5213757"/>
            <a:ext cx="44068" cy="257547"/>
          </a:xfrm>
          <a:prstGeom prst="straightConnector1">
            <a:avLst/>
          </a:prstGeom>
          <a:ln>
            <a:solidFill>
              <a:srgbClr val="4270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76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le with different colored rectangles&#10;&#10;Description automatically generated">
            <a:extLst>
              <a:ext uri="{FF2B5EF4-FFF2-40B4-BE49-F238E27FC236}">
                <a16:creationId xmlns:a16="http://schemas.microsoft.com/office/drawing/2014/main" id="{4261C56A-71BC-99F3-102F-C5CF28BF3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941" y="1714500"/>
            <a:ext cx="2272206" cy="226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549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10361</TotalTime>
  <Words>220</Words>
  <Application>Microsoft Macintosh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Louise Carlson</dc:creator>
  <cp:lastModifiedBy>Helen Louise Carlson</cp:lastModifiedBy>
  <cp:revision>8</cp:revision>
  <dcterms:created xsi:type="dcterms:W3CDTF">2025-11-11T22:06:53Z</dcterms:created>
  <dcterms:modified xsi:type="dcterms:W3CDTF">2025-11-21T17:49:58Z</dcterms:modified>
</cp:coreProperties>
</file>